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9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Calibri"/>
              </a:rPr>
              <a:t>Average Critic Rating (out of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2E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E3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83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39BA-53A2-DEF6-003E-94E0BE10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52569-661D-E256-1355-0A1CA603E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0723E-6E9E-0CCE-7300-967BD4ABD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A06AF-8CE2-7FD9-78F9-A5E66EB04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29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DATA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SQL Analysis of IMDb Movies (2010–2019)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Open-Ended Exploratory Analysis  |  SQL Summative Assessment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1051560"/>
            <a:ext cx="384048" cy="384048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1554480"/>
            <a:ext cx="384048" cy="384048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1051560"/>
            <a:ext cx="384048" cy="384048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38899-A561-8173-8258-C209E97A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125455-66D7-B834-F478-4E3E9EA9B4A3}"/>
              </a:ext>
            </a:extLst>
          </p:cNvPr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</a:rPr>
              <a:t>Initial data exploration summary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26FBED-E4FC-1E97-8648-2D1CEC9DDF95}"/>
              </a:ext>
            </a:extLst>
          </p:cNvPr>
          <p:cNvSpPr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81983F-CECE-79A0-C50D-B3E3348028E3}"/>
              </a:ext>
            </a:extLst>
          </p:cNvPr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</a:rPr>
              <a:t>Things identified during  data exploration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223D27-7DA0-9DA5-F6A8-F6794A44A7A8}"/>
              </a:ext>
            </a:extLst>
          </p:cNvPr>
          <p:cNvSpPr/>
          <p:nvPr/>
        </p:nvSpPr>
        <p:spPr>
          <a:xfrm>
            <a:off x="640080" y="384962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9C963B-1002-471B-CB5B-29F0AD9BE54F}"/>
              </a:ext>
            </a:extLst>
          </p:cNvPr>
          <p:cNvSpPr/>
          <p:nvPr/>
        </p:nvSpPr>
        <p:spPr>
          <a:xfrm>
            <a:off x="640080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856930-137B-530C-C6A3-EEC081AB861D}"/>
              </a:ext>
            </a:extLst>
          </p:cNvPr>
          <p:cNvSpPr/>
          <p:nvPr/>
        </p:nvSpPr>
        <p:spPr>
          <a:xfrm>
            <a:off x="96012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invalid year,2115 and 9 years out of our 2010-2019 range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9F0EBC-24C4-4A0D-E8EF-BD0550D067B0}"/>
              </a:ext>
            </a:extLst>
          </p:cNvPr>
          <p:cNvSpPr/>
          <p:nvPr/>
        </p:nvSpPr>
        <p:spPr>
          <a:xfrm>
            <a:off x="6172200" y="384962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7CD4B5-23B3-1688-CB24-85093F4A1D26}"/>
              </a:ext>
            </a:extLst>
          </p:cNvPr>
          <p:cNvSpPr/>
          <p:nvPr/>
        </p:nvSpPr>
        <p:spPr>
          <a:xfrm>
            <a:off x="6172200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73587F-E4BF-CEB3-F892-8A298D16E258}"/>
              </a:ext>
            </a:extLst>
          </p:cNvPr>
          <p:cNvSpPr/>
          <p:nvPr/>
        </p:nvSpPr>
        <p:spPr>
          <a:xfrm>
            <a:off x="649224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1455081 total movies with 73856 total movies with ratings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5EF4CB0-2794-0548-FBD1-D6DEA8D7264E}"/>
              </a:ext>
            </a:extLst>
          </p:cNvPr>
          <p:cNvSpPr/>
          <p:nvPr/>
        </p:nvSpPr>
        <p:spPr>
          <a:xfrm>
            <a:off x="640080" y="4626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1176C5-4AB2-A054-FC79-D8162A038E44}"/>
              </a:ext>
            </a:extLst>
          </p:cNvPr>
          <p:cNvSpPr/>
          <p:nvPr/>
        </p:nvSpPr>
        <p:spPr>
          <a:xfrm>
            <a:off x="960120" y="43586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endParaRPr lang="en-US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0CF772B-22E4-D75B-0360-70346EEAA714}"/>
              </a:ext>
            </a:extLst>
          </p:cNvPr>
          <p:cNvSpPr/>
          <p:nvPr/>
        </p:nvSpPr>
        <p:spPr>
          <a:xfrm>
            <a:off x="6172200" y="462686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91B61D6-B9E6-9390-BA49-E738F577C1FA}"/>
              </a:ext>
            </a:extLst>
          </p:cNvPr>
          <p:cNvSpPr/>
          <p:nvPr/>
        </p:nvSpPr>
        <p:spPr>
          <a:xfrm>
            <a:off x="6172200" y="4626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1DC57C4-C4C6-1F28-4C6D-29AAF9723B6C}"/>
              </a:ext>
            </a:extLst>
          </p:cNvPr>
          <p:cNvSpPr/>
          <p:nvPr/>
        </p:nvSpPr>
        <p:spPr>
          <a:xfrm>
            <a:off x="6492240" y="45262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genre production increased steadily across all genres then dropped by the start of year 2019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FF713E6-F60C-0899-B5D2-AAD676565A24}"/>
              </a:ext>
            </a:extLst>
          </p:cNvPr>
          <p:cNvSpPr/>
          <p:nvPr/>
        </p:nvSpPr>
        <p:spPr>
          <a:xfrm>
            <a:off x="640080" y="540410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A1363F-0D42-148A-230E-A807EF908AF3}"/>
              </a:ext>
            </a:extLst>
          </p:cNvPr>
          <p:cNvSpPr/>
          <p:nvPr/>
        </p:nvSpPr>
        <p:spPr>
          <a:xfrm>
            <a:off x="640080" y="5404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98B99DC-23B3-1511-26D5-95CCEBEADFD0}"/>
              </a:ext>
            </a:extLst>
          </p:cNvPr>
          <p:cNvSpPr/>
          <p:nvPr/>
        </p:nvSpPr>
        <p:spPr>
          <a:xfrm>
            <a:off x="96012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has the highest  number of movies produced of 13962 but lower number of votes   213.04 but higher rating of 7.32 compared  to action with 6988 production,14476.49 human votes and a rating of 5.89</a:t>
            </a:r>
            <a:endParaRPr lang="en-US" sz="12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3B3B569-476F-EE5C-D430-CDEF02ED8E89}"/>
              </a:ext>
            </a:extLst>
          </p:cNvPr>
          <p:cNvSpPr/>
          <p:nvPr/>
        </p:nvSpPr>
        <p:spPr>
          <a:xfrm>
            <a:off x="6172200" y="540410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BC608DE-183D-6F70-D7D7-2450058BB8FF}"/>
              </a:ext>
            </a:extLst>
          </p:cNvPr>
          <p:cNvSpPr/>
          <p:nvPr/>
        </p:nvSpPr>
        <p:spPr>
          <a:xfrm>
            <a:off x="6172200" y="5404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ABA084C-3350-2FF5-02B4-A21A471D28B9}"/>
              </a:ext>
            </a:extLst>
          </p:cNvPr>
          <p:cNvSpPr/>
          <p:nvPr/>
        </p:nvSpPr>
        <p:spPr>
          <a:xfrm>
            <a:off x="649224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linear relationship between runtime and  ratings with a correlation of  -0.00069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93681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 for Further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fixed production  budget, should a streaming platform prioritize genres with high audience engagement (like Action) or genres with high critical acclaim but low reach (like Documentary)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Tasks Identified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84962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start_year values outside 2010-2019 (e.g., an erroneous 2115 entry)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384962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Exclude runtime outliers 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26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5262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nulls, don't impute: 31,739 missing runtimes, 5,408 missing genres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462686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4626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45262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comma-separated genres field into a movie-genre bridge table (~40% of titles list multiple genres) 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0410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404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~49% ratings coverage gap explicitly in any rating-based conclusion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5404104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5404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on one canonical title per movie (movie_akas has multiple regional titles per film)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vs. Quality: A Genre Trade-off</a:t>
            </a:r>
            <a:endParaRPr lang="en-US" sz="2600" dirty="0"/>
          </a:p>
        </p:txBody>
      </p:sp>
      <p:graphicFrame>
        <p:nvGraphicFramePr>
          <p:cNvPr id="4" name="Chart 1"/>
          <p:cNvGraphicFramePr/>
          <p:nvPr/>
        </p:nvGraphicFramePr>
        <p:xfrm>
          <a:off x="6217920" y="1143000"/>
          <a:ext cx="5486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29ECBF-0115-B07E-D1AA-9C0C79A04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0849"/>
            <a:ext cx="12192000" cy="5196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280</Words>
  <Application>Microsoft Office PowerPoint</Application>
  <PresentationFormat>Widescreen</PresentationFormat>
  <Paragraphs>37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DATA</cp:lastModifiedBy>
  <cp:revision>2</cp:revision>
  <dcterms:created xsi:type="dcterms:W3CDTF">2026-07-15T08:48:08Z</dcterms:created>
  <dcterms:modified xsi:type="dcterms:W3CDTF">2026-07-15T11:19:46Z</dcterms:modified>
</cp:coreProperties>
</file>